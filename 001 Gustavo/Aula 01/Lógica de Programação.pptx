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" pitchFamily="2" charset="0"/>
      <p:regular r:id="rId16"/>
      <p:bold r:id="rId17"/>
    </p:embeddedFont>
    <p:embeddedFont>
      <p:font typeface="Roboto" panose="02000000000000000000" pitchFamily="2" charset="0"/>
      <p:regular r:id="rId18"/>
    </p:embeddedFont>
    <p:embeddedFont>
      <p:font typeface="Roboto Bold" panose="020000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91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Lógica de </a:t>
            </a:r>
            <a:r>
              <a:rPr lang="pt-BR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Programação</a:t>
            </a:r>
            <a:endParaRPr lang="pt-BR" sz="3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A1EB5D8-2BBD-4E93-AF12-94B908A36F2A}"/>
              </a:ext>
            </a:extLst>
          </p:cNvPr>
          <p:cNvSpPr/>
          <p:nvPr/>
        </p:nvSpPr>
        <p:spPr>
          <a:xfrm>
            <a:off x="80682" y="6556563"/>
            <a:ext cx="2321859" cy="314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Prof. Ramon Ferreira</a:t>
            </a:r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28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1861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que é Lógica de Programação?</a:t>
            </a:r>
            <a:endParaRPr lang="en-US" sz="3600" dirty="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B84E4FA2-500E-4C91-A3E7-E50FCCE85A99}"/>
              </a:ext>
            </a:extLst>
          </p:cNvPr>
          <p:cNvSpPr/>
          <p:nvPr/>
        </p:nvSpPr>
        <p:spPr>
          <a:xfrm>
            <a:off x="661475" y="2012255"/>
            <a:ext cx="6296860" cy="1392535"/>
          </a:xfrm>
          <a:custGeom>
            <a:avLst/>
            <a:gdLst>
              <a:gd name="connsiteX0" fmla="*/ 101562 w 6296860"/>
              <a:gd name="connsiteY0" fmla="*/ 0 h 1392535"/>
              <a:gd name="connsiteX1" fmla="*/ 6232793 w 6296860"/>
              <a:gd name="connsiteY1" fmla="*/ 0 h 1392535"/>
              <a:gd name="connsiteX2" fmla="*/ 6296860 w 6296860"/>
              <a:gd name="connsiteY2" fmla="*/ 63886 h 1392535"/>
              <a:gd name="connsiteX3" fmla="*/ 6296860 w 6296860"/>
              <a:gd name="connsiteY3" fmla="*/ 1328649 h 1392535"/>
              <a:gd name="connsiteX4" fmla="*/ 6232793 w 6296860"/>
              <a:gd name="connsiteY4" fmla="*/ 1392535 h 1392535"/>
              <a:gd name="connsiteX5" fmla="*/ 101562 w 6296860"/>
              <a:gd name="connsiteY5" fmla="*/ 1392535 h 1392535"/>
              <a:gd name="connsiteX6" fmla="*/ 0 w 6296860"/>
              <a:gd name="connsiteY6" fmla="*/ 1291260 h 1392535"/>
              <a:gd name="connsiteX7" fmla="*/ 0 w 6296860"/>
              <a:gd name="connsiteY7" fmla="*/ 101275 h 1392535"/>
              <a:gd name="connsiteX8" fmla="*/ 101562 w 6296860"/>
              <a:gd name="connsiteY8" fmla="*/ 0 h 139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6860" h="1392535">
                <a:moveTo>
                  <a:pt x="101562" y="0"/>
                </a:moveTo>
                <a:lnTo>
                  <a:pt x="6232793" y="0"/>
                </a:lnTo>
                <a:cubicBezTo>
                  <a:pt x="6268177" y="0"/>
                  <a:pt x="6296860" y="28603"/>
                  <a:pt x="6296860" y="63886"/>
                </a:cubicBezTo>
                <a:lnTo>
                  <a:pt x="6296860" y="1328649"/>
                </a:lnTo>
                <a:cubicBezTo>
                  <a:pt x="6296860" y="1363932"/>
                  <a:pt x="6268177" y="1392535"/>
                  <a:pt x="6232793" y="1392535"/>
                </a:cubicBezTo>
                <a:lnTo>
                  <a:pt x="101562" y="1392535"/>
                </a:lnTo>
                <a:cubicBezTo>
                  <a:pt x="45471" y="1392535"/>
                  <a:pt x="0" y="1347193"/>
                  <a:pt x="0" y="1291260"/>
                </a:cubicBezTo>
                <a:lnTo>
                  <a:pt x="0" y="101275"/>
                </a:lnTo>
                <a:cubicBezTo>
                  <a:pt x="0" y="45342"/>
                  <a:pt x="45471" y="0"/>
                  <a:pt x="101562" y="0"/>
                </a:cubicBezTo>
              </a:path>
            </a:pathLst>
          </a:custGeom>
          <a:noFill/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03121EC8-E595-4A9E-8C96-EB524B7E7F49}"/>
              </a:ext>
            </a:extLst>
          </p:cNvPr>
          <p:cNvSpPr/>
          <p:nvPr/>
        </p:nvSpPr>
        <p:spPr>
          <a:xfrm>
            <a:off x="661474" y="2012254"/>
            <a:ext cx="6296860" cy="1392535"/>
          </a:xfrm>
          <a:custGeom>
            <a:avLst/>
            <a:gdLst>
              <a:gd name="connsiteX0" fmla="*/ 29745 w 6296860"/>
              <a:gd name="connsiteY0" fmla="*/ 29661 h 1392535"/>
              <a:gd name="connsiteX1" fmla="*/ 101562 w 6296860"/>
              <a:gd name="connsiteY1" fmla="*/ 0 h 1392535"/>
              <a:gd name="connsiteX2" fmla="*/ 6232793 w 6296860"/>
              <a:gd name="connsiteY2" fmla="*/ 0 h 1392535"/>
              <a:gd name="connsiteX3" fmla="*/ 6296860 w 6296860"/>
              <a:gd name="connsiteY3" fmla="*/ 63886 h 1392535"/>
              <a:gd name="connsiteX4" fmla="*/ 6296860 w 6296860"/>
              <a:gd name="connsiteY4" fmla="*/ 1328649 h 1392535"/>
              <a:gd name="connsiteX5" fmla="*/ 6232793 w 6296860"/>
              <a:gd name="connsiteY5" fmla="*/ 1392535 h 1392535"/>
              <a:gd name="connsiteX6" fmla="*/ 101562 w 6296860"/>
              <a:gd name="connsiteY6" fmla="*/ 1392535 h 1392535"/>
              <a:gd name="connsiteX7" fmla="*/ 0 w 6296860"/>
              <a:gd name="connsiteY7" fmla="*/ 1291260 h 1392535"/>
              <a:gd name="connsiteX8" fmla="*/ 0 w 6296860"/>
              <a:gd name="connsiteY8" fmla="*/ 101275 h 1392535"/>
              <a:gd name="connsiteX9" fmla="*/ 29745 w 6296860"/>
              <a:gd name="connsiteY9" fmla="*/ 29661 h 139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96860" h="1392535">
                <a:moveTo>
                  <a:pt x="29745" y="29661"/>
                </a:moveTo>
                <a:cubicBezTo>
                  <a:pt x="48792" y="10668"/>
                  <a:pt x="74626" y="-1"/>
                  <a:pt x="101562" y="0"/>
                </a:cubicBezTo>
                <a:lnTo>
                  <a:pt x="6232793" y="0"/>
                </a:lnTo>
                <a:cubicBezTo>
                  <a:pt x="6268177" y="0"/>
                  <a:pt x="6296860" y="28603"/>
                  <a:pt x="6296860" y="63886"/>
                </a:cubicBezTo>
                <a:lnTo>
                  <a:pt x="6296860" y="1328649"/>
                </a:lnTo>
                <a:cubicBezTo>
                  <a:pt x="6296860" y="1363932"/>
                  <a:pt x="6268177" y="1392535"/>
                  <a:pt x="6232793" y="1392535"/>
                </a:cubicBezTo>
                <a:lnTo>
                  <a:pt x="101562" y="1392535"/>
                </a:lnTo>
                <a:cubicBezTo>
                  <a:pt x="45471" y="1392535"/>
                  <a:pt x="0" y="1347193"/>
                  <a:pt x="0" y="1291260"/>
                </a:cubicBezTo>
                <a:lnTo>
                  <a:pt x="0" y="101275"/>
                </a:lnTo>
                <a:cubicBezTo>
                  <a:pt x="-1" y="74415"/>
                  <a:pt x="10699" y="48655"/>
                  <a:pt x="29745" y="29661"/>
                </a:cubicBezTo>
              </a:path>
            </a:pathLst>
          </a:custGeom>
          <a:noFill/>
          <a:ln w="50774" cap="flat">
            <a:solidFill>
              <a:srgbClr val="C7C7D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F93B2B90-15DA-4FD5-8827-5F0DCEE98D53}"/>
              </a:ext>
            </a:extLst>
          </p:cNvPr>
          <p:cNvSpPr/>
          <p:nvPr/>
        </p:nvSpPr>
        <p:spPr>
          <a:xfrm>
            <a:off x="661475" y="2012255"/>
            <a:ext cx="101562" cy="1392535"/>
          </a:xfrm>
          <a:custGeom>
            <a:avLst/>
            <a:gdLst>
              <a:gd name="connsiteX0" fmla="*/ 64067 w 101562"/>
              <a:gd name="connsiteY0" fmla="*/ 0 h 1392535"/>
              <a:gd name="connsiteX1" fmla="*/ 101562 w 101562"/>
              <a:gd name="connsiteY1" fmla="*/ 0 h 1392535"/>
              <a:gd name="connsiteX2" fmla="*/ 101562 w 101562"/>
              <a:gd name="connsiteY2" fmla="*/ 0 h 1392535"/>
              <a:gd name="connsiteX3" fmla="*/ 101562 w 101562"/>
              <a:gd name="connsiteY3" fmla="*/ 1392535 h 1392535"/>
              <a:gd name="connsiteX4" fmla="*/ 101562 w 101562"/>
              <a:gd name="connsiteY4" fmla="*/ 1392535 h 1392535"/>
              <a:gd name="connsiteX5" fmla="*/ 64067 w 101562"/>
              <a:gd name="connsiteY5" fmla="*/ 1392535 h 1392535"/>
              <a:gd name="connsiteX6" fmla="*/ 0 w 101562"/>
              <a:gd name="connsiteY6" fmla="*/ 1328649 h 1392535"/>
              <a:gd name="connsiteX7" fmla="*/ 0 w 101562"/>
              <a:gd name="connsiteY7" fmla="*/ 63886 h 1392535"/>
              <a:gd name="connsiteX8" fmla="*/ 64067 w 101562"/>
              <a:gd name="connsiteY8" fmla="*/ 0 h 139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562" h="1392535">
                <a:moveTo>
                  <a:pt x="64067" y="0"/>
                </a:moveTo>
                <a:lnTo>
                  <a:pt x="101562" y="0"/>
                </a:lnTo>
                <a:lnTo>
                  <a:pt x="101562" y="0"/>
                </a:lnTo>
                <a:lnTo>
                  <a:pt x="101562" y="1392535"/>
                </a:lnTo>
                <a:lnTo>
                  <a:pt x="101562" y="1392535"/>
                </a:lnTo>
                <a:lnTo>
                  <a:pt x="64067" y="1392535"/>
                </a:lnTo>
                <a:cubicBezTo>
                  <a:pt x="28684" y="1392535"/>
                  <a:pt x="0" y="1363932"/>
                  <a:pt x="0" y="1328649"/>
                </a:cubicBezTo>
                <a:lnTo>
                  <a:pt x="0" y="63886"/>
                </a:lnTo>
                <a:cubicBezTo>
                  <a:pt x="0" y="28603"/>
                  <a:pt x="28684" y="0"/>
                  <a:pt x="64067" y="0"/>
                </a:cubicBezTo>
              </a:path>
            </a:pathLst>
          </a:custGeom>
          <a:solidFill>
            <a:srgbClr val="1B1B27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" name="Text 2"/>
          <p:cNvSpPr/>
          <p:nvPr/>
        </p:nvSpPr>
        <p:spPr>
          <a:xfrm>
            <a:off x="971526" y="2220714"/>
            <a:ext cx="5778355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Como ensinar a fazer um bolo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71526" y="2619474"/>
            <a:ext cx="577835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precisa dar instruções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claras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 na </a:t>
            </a: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ordem certa</a:t>
            </a: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 computador funciona exatamente assim!</a:t>
            </a:r>
            <a:endParaRPr lang="en-US" sz="1400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4552314A-77ED-42A5-90C8-FE8BD2C76D21}"/>
              </a:ext>
            </a:extLst>
          </p:cNvPr>
          <p:cNvSpPr/>
          <p:nvPr/>
        </p:nvSpPr>
        <p:spPr>
          <a:xfrm>
            <a:off x="661475" y="3582095"/>
            <a:ext cx="6296860" cy="1392535"/>
          </a:xfrm>
          <a:custGeom>
            <a:avLst/>
            <a:gdLst>
              <a:gd name="connsiteX0" fmla="*/ 101562 w 6296860"/>
              <a:gd name="connsiteY0" fmla="*/ 0 h 1392535"/>
              <a:gd name="connsiteX1" fmla="*/ 6232793 w 6296860"/>
              <a:gd name="connsiteY1" fmla="*/ 0 h 1392535"/>
              <a:gd name="connsiteX2" fmla="*/ 6296860 w 6296860"/>
              <a:gd name="connsiteY2" fmla="*/ 63886 h 1392535"/>
              <a:gd name="connsiteX3" fmla="*/ 6296860 w 6296860"/>
              <a:gd name="connsiteY3" fmla="*/ 1328649 h 1392535"/>
              <a:gd name="connsiteX4" fmla="*/ 6232793 w 6296860"/>
              <a:gd name="connsiteY4" fmla="*/ 1392535 h 1392535"/>
              <a:gd name="connsiteX5" fmla="*/ 101562 w 6296860"/>
              <a:gd name="connsiteY5" fmla="*/ 1392535 h 1392535"/>
              <a:gd name="connsiteX6" fmla="*/ 0 w 6296860"/>
              <a:gd name="connsiteY6" fmla="*/ 1291260 h 1392535"/>
              <a:gd name="connsiteX7" fmla="*/ 0 w 6296860"/>
              <a:gd name="connsiteY7" fmla="*/ 101275 h 1392535"/>
              <a:gd name="connsiteX8" fmla="*/ 101562 w 6296860"/>
              <a:gd name="connsiteY8" fmla="*/ 0 h 139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6860" h="1392535">
                <a:moveTo>
                  <a:pt x="101562" y="0"/>
                </a:moveTo>
                <a:lnTo>
                  <a:pt x="6232793" y="0"/>
                </a:lnTo>
                <a:cubicBezTo>
                  <a:pt x="6268177" y="0"/>
                  <a:pt x="6296860" y="28603"/>
                  <a:pt x="6296860" y="63886"/>
                </a:cubicBezTo>
                <a:lnTo>
                  <a:pt x="6296860" y="1328649"/>
                </a:lnTo>
                <a:cubicBezTo>
                  <a:pt x="6296860" y="1363932"/>
                  <a:pt x="6268177" y="1392535"/>
                  <a:pt x="6232793" y="1392535"/>
                </a:cubicBezTo>
                <a:lnTo>
                  <a:pt x="101562" y="1392535"/>
                </a:lnTo>
                <a:cubicBezTo>
                  <a:pt x="45471" y="1392535"/>
                  <a:pt x="0" y="1347193"/>
                  <a:pt x="0" y="1291260"/>
                </a:cubicBezTo>
                <a:lnTo>
                  <a:pt x="0" y="101275"/>
                </a:lnTo>
                <a:cubicBezTo>
                  <a:pt x="0" y="45342"/>
                  <a:pt x="45471" y="0"/>
                  <a:pt x="101562" y="0"/>
                </a:cubicBezTo>
              </a:path>
            </a:pathLst>
          </a:custGeom>
          <a:noFill/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A8F2CFB3-26C6-4ACF-8D70-2D5D06185F15}"/>
              </a:ext>
            </a:extLst>
          </p:cNvPr>
          <p:cNvSpPr/>
          <p:nvPr/>
        </p:nvSpPr>
        <p:spPr>
          <a:xfrm>
            <a:off x="661474" y="3582094"/>
            <a:ext cx="6296860" cy="1392535"/>
          </a:xfrm>
          <a:custGeom>
            <a:avLst/>
            <a:gdLst>
              <a:gd name="connsiteX0" fmla="*/ 29745 w 6296860"/>
              <a:gd name="connsiteY0" fmla="*/ 29661 h 1392535"/>
              <a:gd name="connsiteX1" fmla="*/ 101562 w 6296860"/>
              <a:gd name="connsiteY1" fmla="*/ 0 h 1392535"/>
              <a:gd name="connsiteX2" fmla="*/ 6232793 w 6296860"/>
              <a:gd name="connsiteY2" fmla="*/ 0 h 1392535"/>
              <a:gd name="connsiteX3" fmla="*/ 6296860 w 6296860"/>
              <a:gd name="connsiteY3" fmla="*/ 63886 h 1392535"/>
              <a:gd name="connsiteX4" fmla="*/ 6296860 w 6296860"/>
              <a:gd name="connsiteY4" fmla="*/ 1328649 h 1392535"/>
              <a:gd name="connsiteX5" fmla="*/ 6232793 w 6296860"/>
              <a:gd name="connsiteY5" fmla="*/ 1392535 h 1392535"/>
              <a:gd name="connsiteX6" fmla="*/ 101562 w 6296860"/>
              <a:gd name="connsiteY6" fmla="*/ 1392535 h 1392535"/>
              <a:gd name="connsiteX7" fmla="*/ 0 w 6296860"/>
              <a:gd name="connsiteY7" fmla="*/ 1291260 h 1392535"/>
              <a:gd name="connsiteX8" fmla="*/ 0 w 6296860"/>
              <a:gd name="connsiteY8" fmla="*/ 101275 h 1392535"/>
              <a:gd name="connsiteX9" fmla="*/ 29745 w 6296860"/>
              <a:gd name="connsiteY9" fmla="*/ 29661 h 139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96860" h="1392535">
                <a:moveTo>
                  <a:pt x="29745" y="29661"/>
                </a:moveTo>
                <a:cubicBezTo>
                  <a:pt x="48792" y="10668"/>
                  <a:pt x="74626" y="-1"/>
                  <a:pt x="101562" y="0"/>
                </a:cubicBezTo>
                <a:lnTo>
                  <a:pt x="6232793" y="0"/>
                </a:lnTo>
                <a:cubicBezTo>
                  <a:pt x="6268177" y="0"/>
                  <a:pt x="6296860" y="28603"/>
                  <a:pt x="6296860" y="63886"/>
                </a:cubicBezTo>
                <a:lnTo>
                  <a:pt x="6296860" y="1328649"/>
                </a:lnTo>
                <a:cubicBezTo>
                  <a:pt x="6296860" y="1363932"/>
                  <a:pt x="6268177" y="1392535"/>
                  <a:pt x="6232793" y="1392535"/>
                </a:cubicBezTo>
                <a:lnTo>
                  <a:pt x="101562" y="1392535"/>
                </a:lnTo>
                <a:cubicBezTo>
                  <a:pt x="45471" y="1392535"/>
                  <a:pt x="0" y="1347193"/>
                  <a:pt x="0" y="1291260"/>
                </a:cubicBezTo>
                <a:lnTo>
                  <a:pt x="0" y="101275"/>
                </a:lnTo>
                <a:cubicBezTo>
                  <a:pt x="-1" y="74415"/>
                  <a:pt x="10699" y="48655"/>
                  <a:pt x="29745" y="29661"/>
                </a:cubicBezTo>
              </a:path>
            </a:pathLst>
          </a:custGeom>
          <a:noFill/>
          <a:ln w="50774" cap="flat">
            <a:solidFill>
              <a:srgbClr val="C7C7D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217B43AF-4D1A-4249-9531-468075A55014}"/>
              </a:ext>
            </a:extLst>
          </p:cNvPr>
          <p:cNvSpPr/>
          <p:nvPr/>
        </p:nvSpPr>
        <p:spPr>
          <a:xfrm>
            <a:off x="661475" y="3582095"/>
            <a:ext cx="101562" cy="1392535"/>
          </a:xfrm>
          <a:custGeom>
            <a:avLst/>
            <a:gdLst>
              <a:gd name="connsiteX0" fmla="*/ 64067 w 101562"/>
              <a:gd name="connsiteY0" fmla="*/ 0 h 1392535"/>
              <a:gd name="connsiteX1" fmla="*/ 101562 w 101562"/>
              <a:gd name="connsiteY1" fmla="*/ 0 h 1392535"/>
              <a:gd name="connsiteX2" fmla="*/ 101562 w 101562"/>
              <a:gd name="connsiteY2" fmla="*/ 0 h 1392535"/>
              <a:gd name="connsiteX3" fmla="*/ 101562 w 101562"/>
              <a:gd name="connsiteY3" fmla="*/ 1392535 h 1392535"/>
              <a:gd name="connsiteX4" fmla="*/ 101562 w 101562"/>
              <a:gd name="connsiteY4" fmla="*/ 1392535 h 1392535"/>
              <a:gd name="connsiteX5" fmla="*/ 64067 w 101562"/>
              <a:gd name="connsiteY5" fmla="*/ 1392535 h 1392535"/>
              <a:gd name="connsiteX6" fmla="*/ 0 w 101562"/>
              <a:gd name="connsiteY6" fmla="*/ 1328649 h 1392535"/>
              <a:gd name="connsiteX7" fmla="*/ 0 w 101562"/>
              <a:gd name="connsiteY7" fmla="*/ 63886 h 1392535"/>
              <a:gd name="connsiteX8" fmla="*/ 64067 w 101562"/>
              <a:gd name="connsiteY8" fmla="*/ 0 h 1392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562" h="1392535">
                <a:moveTo>
                  <a:pt x="64067" y="0"/>
                </a:moveTo>
                <a:lnTo>
                  <a:pt x="101562" y="0"/>
                </a:lnTo>
                <a:lnTo>
                  <a:pt x="101562" y="0"/>
                </a:lnTo>
                <a:lnTo>
                  <a:pt x="101562" y="1392535"/>
                </a:lnTo>
                <a:lnTo>
                  <a:pt x="101562" y="1392535"/>
                </a:lnTo>
                <a:lnTo>
                  <a:pt x="64067" y="1392535"/>
                </a:lnTo>
                <a:cubicBezTo>
                  <a:pt x="28684" y="1392535"/>
                  <a:pt x="0" y="1363932"/>
                  <a:pt x="0" y="1328649"/>
                </a:cubicBezTo>
                <a:lnTo>
                  <a:pt x="0" y="63886"/>
                </a:lnTo>
                <a:cubicBezTo>
                  <a:pt x="0" y="28603"/>
                  <a:pt x="28684" y="0"/>
                  <a:pt x="64067" y="0"/>
                </a:cubicBezTo>
              </a:path>
            </a:pathLst>
          </a:custGeom>
          <a:solidFill>
            <a:srgbClr val="1B1B27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ext 4"/>
          <p:cNvSpPr/>
          <p:nvPr/>
        </p:nvSpPr>
        <p:spPr>
          <a:xfrm>
            <a:off x="971526" y="3790553"/>
            <a:ext cx="5778355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 lógica, o computador fica perdido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971526" y="4189313"/>
            <a:ext cx="577835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Tipo tentar fazer um bolo sem receita — o resultado pode ser um desastre!</a:t>
            </a:r>
            <a:endParaRPr lang="en-US" sz="1400" dirty="0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1E53F408-CDC5-4A8D-BA98-055938121499}"/>
              </a:ext>
            </a:extLst>
          </p:cNvPr>
          <p:cNvSpPr/>
          <p:nvPr/>
        </p:nvSpPr>
        <p:spPr>
          <a:xfrm>
            <a:off x="661475" y="5151934"/>
            <a:ext cx="6296860" cy="1104106"/>
          </a:xfrm>
          <a:custGeom>
            <a:avLst/>
            <a:gdLst>
              <a:gd name="connsiteX0" fmla="*/ 101562 w 6296860"/>
              <a:gd name="connsiteY0" fmla="*/ 0 h 1104106"/>
              <a:gd name="connsiteX1" fmla="*/ 6232793 w 6296860"/>
              <a:gd name="connsiteY1" fmla="*/ 0 h 1104106"/>
              <a:gd name="connsiteX2" fmla="*/ 6296860 w 6296860"/>
              <a:gd name="connsiteY2" fmla="*/ 64044 h 1104106"/>
              <a:gd name="connsiteX3" fmla="*/ 6296860 w 6296860"/>
              <a:gd name="connsiteY3" fmla="*/ 1040062 h 1104106"/>
              <a:gd name="connsiteX4" fmla="*/ 6232793 w 6296860"/>
              <a:gd name="connsiteY4" fmla="*/ 1104106 h 1104106"/>
              <a:gd name="connsiteX5" fmla="*/ 101562 w 6296860"/>
              <a:gd name="connsiteY5" fmla="*/ 1104106 h 1104106"/>
              <a:gd name="connsiteX6" fmla="*/ 0 w 6296860"/>
              <a:gd name="connsiteY6" fmla="*/ 1002579 h 1104106"/>
              <a:gd name="connsiteX7" fmla="*/ 0 w 6296860"/>
              <a:gd name="connsiteY7" fmla="*/ 101527 h 1104106"/>
              <a:gd name="connsiteX8" fmla="*/ 101562 w 6296860"/>
              <a:gd name="connsiteY8" fmla="*/ 0 h 1104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6860" h="1104106">
                <a:moveTo>
                  <a:pt x="101562" y="0"/>
                </a:moveTo>
                <a:lnTo>
                  <a:pt x="6232793" y="0"/>
                </a:lnTo>
                <a:cubicBezTo>
                  <a:pt x="6268177" y="0"/>
                  <a:pt x="6296860" y="28674"/>
                  <a:pt x="6296860" y="64044"/>
                </a:cubicBezTo>
                <a:lnTo>
                  <a:pt x="6296860" y="1040062"/>
                </a:lnTo>
                <a:cubicBezTo>
                  <a:pt x="6296860" y="1075432"/>
                  <a:pt x="6268177" y="1104106"/>
                  <a:pt x="6232793" y="1104106"/>
                </a:cubicBezTo>
                <a:lnTo>
                  <a:pt x="101562" y="1104106"/>
                </a:lnTo>
                <a:cubicBezTo>
                  <a:pt x="45471" y="1104106"/>
                  <a:pt x="0" y="1058651"/>
                  <a:pt x="0" y="1002579"/>
                </a:cubicBezTo>
                <a:lnTo>
                  <a:pt x="0" y="101527"/>
                </a:lnTo>
                <a:cubicBezTo>
                  <a:pt x="0" y="45455"/>
                  <a:pt x="45471" y="0"/>
                  <a:pt x="101562" y="0"/>
                </a:cubicBezTo>
              </a:path>
            </a:pathLst>
          </a:custGeom>
          <a:noFill/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EBF989EF-9FFD-4AB3-A31E-0E99A5562DFC}"/>
              </a:ext>
            </a:extLst>
          </p:cNvPr>
          <p:cNvSpPr/>
          <p:nvPr/>
        </p:nvSpPr>
        <p:spPr>
          <a:xfrm>
            <a:off x="661474" y="5151933"/>
            <a:ext cx="6296860" cy="1104106"/>
          </a:xfrm>
          <a:custGeom>
            <a:avLst/>
            <a:gdLst>
              <a:gd name="connsiteX0" fmla="*/ 29745 w 6296860"/>
              <a:gd name="connsiteY0" fmla="*/ 29735 h 1104106"/>
              <a:gd name="connsiteX1" fmla="*/ 101562 w 6296860"/>
              <a:gd name="connsiteY1" fmla="*/ 0 h 1104106"/>
              <a:gd name="connsiteX2" fmla="*/ 6232793 w 6296860"/>
              <a:gd name="connsiteY2" fmla="*/ 0 h 1104106"/>
              <a:gd name="connsiteX3" fmla="*/ 6296860 w 6296860"/>
              <a:gd name="connsiteY3" fmla="*/ 64044 h 1104106"/>
              <a:gd name="connsiteX4" fmla="*/ 6296860 w 6296860"/>
              <a:gd name="connsiteY4" fmla="*/ 1040062 h 1104106"/>
              <a:gd name="connsiteX5" fmla="*/ 6232793 w 6296860"/>
              <a:gd name="connsiteY5" fmla="*/ 1104106 h 1104106"/>
              <a:gd name="connsiteX6" fmla="*/ 101562 w 6296860"/>
              <a:gd name="connsiteY6" fmla="*/ 1104106 h 1104106"/>
              <a:gd name="connsiteX7" fmla="*/ 0 w 6296860"/>
              <a:gd name="connsiteY7" fmla="*/ 1002579 h 1104106"/>
              <a:gd name="connsiteX8" fmla="*/ 0 w 6296860"/>
              <a:gd name="connsiteY8" fmla="*/ 101527 h 1104106"/>
              <a:gd name="connsiteX9" fmla="*/ 29745 w 6296860"/>
              <a:gd name="connsiteY9" fmla="*/ 29735 h 1104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296860" h="1104106">
                <a:moveTo>
                  <a:pt x="29745" y="29735"/>
                </a:moveTo>
                <a:cubicBezTo>
                  <a:pt x="48792" y="10695"/>
                  <a:pt x="74626" y="-1"/>
                  <a:pt x="101562" y="0"/>
                </a:cubicBezTo>
                <a:lnTo>
                  <a:pt x="6232793" y="0"/>
                </a:lnTo>
                <a:cubicBezTo>
                  <a:pt x="6268177" y="0"/>
                  <a:pt x="6296860" y="28674"/>
                  <a:pt x="6296860" y="64044"/>
                </a:cubicBezTo>
                <a:lnTo>
                  <a:pt x="6296860" y="1040062"/>
                </a:lnTo>
                <a:cubicBezTo>
                  <a:pt x="6296860" y="1075432"/>
                  <a:pt x="6268177" y="1104106"/>
                  <a:pt x="6232793" y="1104106"/>
                </a:cubicBezTo>
                <a:lnTo>
                  <a:pt x="101562" y="1104106"/>
                </a:lnTo>
                <a:cubicBezTo>
                  <a:pt x="45471" y="1104106"/>
                  <a:pt x="0" y="1058651"/>
                  <a:pt x="0" y="1002579"/>
                </a:cubicBezTo>
                <a:lnTo>
                  <a:pt x="0" y="101527"/>
                </a:lnTo>
                <a:cubicBezTo>
                  <a:pt x="-1" y="74600"/>
                  <a:pt x="10699" y="48775"/>
                  <a:pt x="29745" y="29735"/>
                </a:cubicBezTo>
              </a:path>
            </a:pathLst>
          </a:custGeom>
          <a:noFill/>
          <a:ln w="50774" cap="flat">
            <a:solidFill>
              <a:srgbClr val="C7C7D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5F4892A8-7B06-4AA6-8FD1-410BEE56A6BB}"/>
              </a:ext>
            </a:extLst>
          </p:cNvPr>
          <p:cNvSpPr/>
          <p:nvPr/>
        </p:nvSpPr>
        <p:spPr>
          <a:xfrm>
            <a:off x="661475" y="5151934"/>
            <a:ext cx="101562" cy="1104106"/>
          </a:xfrm>
          <a:custGeom>
            <a:avLst/>
            <a:gdLst>
              <a:gd name="connsiteX0" fmla="*/ 64067 w 101562"/>
              <a:gd name="connsiteY0" fmla="*/ 0 h 1104106"/>
              <a:gd name="connsiteX1" fmla="*/ 101562 w 101562"/>
              <a:gd name="connsiteY1" fmla="*/ 0 h 1104106"/>
              <a:gd name="connsiteX2" fmla="*/ 101562 w 101562"/>
              <a:gd name="connsiteY2" fmla="*/ 0 h 1104106"/>
              <a:gd name="connsiteX3" fmla="*/ 101562 w 101562"/>
              <a:gd name="connsiteY3" fmla="*/ 1104106 h 1104106"/>
              <a:gd name="connsiteX4" fmla="*/ 101562 w 101562"/>
              <a:gd name="connsiteY4" fmla="*/ 1104106 h 1104106"/>
              <a:gd name="connsiteX5" fmla="*/ 64067 w 101562"/>
              <a:gd name="connsiteY5" fmla="*/ 1104106 h 1104106"/>
              <a:gd name="connsiteX6" fmla="*/ 0 w 101562"/>
              <a:gd name="connsiteY6" fmla="*/ 1040062 h 1104106"/>
              <a:gd name="connsiteX7" fmla="*/ 0 w 101562"/>
              <a:gd name="connsiteY7" fmla="*/ 64044 h 1104106"/>
              <a:gd name="connsiteX8" fmla="*/ 64067 w 101562"/>
              <a:gd name="connsiteY8" fmla="*/ 0 h 1104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562" h="1104106">
                <a:moveTo>
                  <a:pt x="64067" y="0"/>
                </a:moveTo>
                <a:lnTo>
                  <a:pt x="101562" y="0"/>
                </a:lnTo>
                <a:lnTo>
                  <a:pt x="101562" y="0"/>
                </a:lnTo>
                <a:lnTo>
                  <a:pt x="101562" y="1104106"/>
                </a:lnTo>
                <a:lnTo>
                  <a:pt x="101562" y="1104106"/>
                </a:lnTo>
                <a:lnTo>
                  <a:pt x="64067" y="1104106"/>
                </a:lnTo>
                <a:cubicBezTo>
                  <a:pt x="28684" y="1104106"/>
                  <a:pt x="0" y="1075432"/>
                  <a:pt x="0" y="1040062"/>
                </a:cubicBezTo>
                <a:lnTo>
                  <a:pt x="0" y="64044"/>
                </a:lnTo>
                <a:cubicBezTo>
                  <a:pt x="0" y="28674"/>
                  <a:pt x="28684" y="0"/>
                  <a:pt x="64067" y="0"/>
                </a:cubicBezTo>
              </a:path>
            </a:pathLst>
          </a:custGeom>
          <a:solidFill>
            <a:srgbClr val="1B1B27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971526" y="5360392"/>
            <a:ext cx="5778355" cy="292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Programação</a:t>
            </a: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= conversa com o computador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71526" y="5759152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 uma linguagem que ele entende, passo a passo, sem pular etapas.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85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Algoritmos: Receitas para o Computador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16662" y="2075359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"Algoritmos são conjuntos de passos finitos e organizados que, quando executados, resolvem um determinado problema."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1905298"/>
            <a:ext cx="25399" cy="94495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4633201" y="3062883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já usou algoritmos hoje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noProof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perceber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535363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Receita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 bolo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Instruções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 GPS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Tutorial de videogame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787404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sp>
        <p:nvSpPr>
          <p:cNvPr id="10" name="Text 6"/>
          <p:cNvSpPr/>
          <p:nvPr/>
        </p:nvSpPr>
        <p:spPr>
          <a:xfrm>
            <a:off x="5247449" y="5004693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⚠️ A ordem importa! Não dá pra colocar o bolo no forno antes de misturar os ingredientes.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263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Algoritmos na Vida Real: O Robô da TV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78421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já tentou cancelar uma assinatura de TV? Veja como funciona:</a:t>
            </a:r>
            <a:endParaRPr lang="en-US" dirty="0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2BBBDA7F-ACEB-4734-A3F7-041AD2B987A3}"/>
              </a:ext>
            </a:extLst>
          </p:cNvPr>
          <p:cNvSpPr/>
          <p:nvPr/>
        </p:nvSpPr>
        <p:spPr>
          <a:xfrm>
            <a:off x="661475" y="1660984"/>
            <a:ext cx="3560673" cy="1774081"/>
          </a:xfrm>
          <a:custGeom>
            <a:avLst/>
            <a:gdLst>
              <a:gd name="connsiteX0" fmla="*/ 76164 w 3560673"/>
              <a:gd name="connsiteY0" fmla="*/ 0 h 1774081"/>
              <a:gd name="connsiteX1" fmla="*/ 3484509 w 3560673"/>
              <a:gd name="connsiteY1" fmla="*/ 0 h 1774081"/>
              <a:gd name="connsiteX2" fmla="*/ 3560673 w 3560673"/>
              <a:gd name="connsiteY2" fmla="*/ 76032 h 1774081"/>
              <a:gd name="connsiteX3" fmla="*/ 3560673 w 3560673"/>
              <a:gd name="connsiteY3" fmla="*/ 1727667 h 1774081"/>
              <a:gd name="connsiteX4" fmla="*/ 3514178 w 3560673"/>
              <a:gd name="connsiteY4" fmla="*/ 1774082 h 1774081"/>
              <a:gd name="connsiteX5" fmla="*/ 46496 w 3560673"/>
              <a:gd name="connsiteY5" fmla="*/ 1774082 h 1774081"/>
              <a:gd name="connsiteX6" fmla="*/ 0 w 3560673"/>
              <a:gd name="connsiteY6" fmla="*/ 1727667 h 1774081"/>
              <a:gd name="connsiteX7" fmla="*/ 0 w 3560673"/>
              <a:gd name="connsiteY7" fmla="*/ 76032 h 1774081"/>
              <a:gd name="connsiteX8" fmla="*/ 76164 w 3560673"/>
              <a:gd name="connsiteY8" fmla="*/ 0 h 177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0673" h="1774081">
                <a:moveTo>
                  <a:pt x="76164" y="0"/>
                </a:moveTo>
                <a:lnTo>
                  <a:pt x="3484509" y="0"/>
                </a:lnTo>
                <a:cubicBezTo>
                  <a:pt x="3526573" y="0"/>
                  <a:pt x="3560673" y="34041"/>
                  <a:pt x="3560673" y="76032"/>
                </a:cubicBezTo>
                <a:lnTo>
                  <a:pt x="3560673" y="1727667"/>
                </a:lnTo>
                <a:cubicBezTo>
                  <a:pt x="3560673" y="1753301"/>
                  <a:pt x="3539856" y="1774082"/>
                  <a:pt x="3514178" y="1774082"/>
                </a:cubicBezTo>
                <a:lnTo>
                  <a:pt x="46496" y="1774082"/>
                </a:lnTo>
                <a:cubicBezTo>
                  <a:pt x="20817" y="1774082"/>
                  <a:pt x="0" y="1753301"/>
                  <a:pt x="0" y="1727667"/>
                </a:cubicBezTo>
                <a:lnTo>
                  <a:pt x="0" y="76032"/>
                </a:lnTo>
                <a:cubicBezTo>
                  <a:pt x="0" y="34041"/>
                  <a:pt x="34100" y="0"/>
                  <a:pt x="76164" y="0"/>
                </a:cubicBezTo>
              </a:path>
            </a:pathLst>
          </a:custGeom>
          <a:noFill/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A9B3941F-E66D-4746-997E-DB6559071C7C}"/>
              </a:ext>
            </a:extLst>
          </p:cNvPr>
          <p:cNvSpPr/>
          <p:nvPr/>
        </p:nvSpPr>
        <p:spPr>
          <a:xfrm>
            <a:off x="661475" y="1683255"/>
            <a:ext cx="3560673" cy="2108816"/>
          </a:xfrm>
          <a:custGeom>
            <a:avLst/>
            <a:gdLst>
              <a:gd name="connsiteX0" fmla="*/ 3538363 w 3560673"/>
              <a:gd name="connsiteY0" fmla="*/ 0 h 1751810"/>
              <a:gd name="connsiteX1" fmla="*/ 3560673 w 3560673"/>
              <a:gd name="connsiteY1" fmla="*/ 53761 h 1751810"/>
              <a:gd name="connsiteX2" fmla="*/ 3560673 w 3560673"/>
              <a:gd name="connsiteY2" fmla="*/ 1705396 h 1751810"/>
              <a:gd name="connsiteX3" fmla="*/ 3514178 w 3560673"/>
              <a:gd name="connsiteY3" fmla="*/ 1751811 h 1751810"/>
              <a:gd name="connsiteX4" fmla="*/ 46496 w 3560673"/>
              <a:gd name="connsiteY4" fmla="*/ 1751811 h 1751810"/>
              <a:gd name="connsiteX5" fmla="*/ 0 w 3560673"/>
              <a:gd name="connsiteY5" fmla="*/ 1705396 h 1751810"/>
              <a:gd name="connsiteX6" fmla="*/ 0 w 3560673"/>
              <a:gd name="connsiteY6" fmla="*/ 53761 h 1751810"/>
              <a:gd name="connsiteX7" fmla="*/ 22310 w 3560673"/>
              <a:gd name="connsiteY7" fmla="*/ 0 h 1751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0673" h="1751810">
                <a:moveTo>
                  <a:pt x="3538363" y="0"/>
                </a:moveTo>
                <a:cubicBezTo>
                  <a:pt x="3552647" y="14258"/>
                  <a:pt x="3560672" y="33596"/>
                  <a:pt x="3560673" y="53761"/>
                </a:cubicBezTo>
                <a:lnTo>
                  <a:pt x="3560673" y="1705396"/>
                </a:lnTo>
                <a:cubicBezTo>
                  <a:pt x="3560673" y="1731030"/>
                  <a:pt x="3539856" y="1751811"/>
                  <a:pt x="3514178" y="1751811"/>
                </a:cubicBezTo>
                <a:lnTo>
                  <a:pt x="46496" y="1751811"/>
                </a:lnTo>
                <a:cubicBezTo>
                  <a:pt x="20817" y="1751811"/>
                  <a:pt x="0" y="1731030"/>
                  <a:pt x="0" y="1705396"/>
                </a:cubicBezTo>
                <a:lnTo>
                  <a:pt x="0" y="53761"/>
                </a:lnTo>
                <a:cubicBezTo>
                  <a:pt x="1" y="33596"/>
                  <a:pt x="8026" y="14258"/>
                  <a:pt x="22310" y="0"/>
                </a:cubicBezTo>
              </a:path>
            </a:pathLst>
          </a:custGeom>
          <a:noFill/>
          <a:ln w="37998" cap="flat">
            <a:solidFill>
              <a:srgbClr val="C7C7D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25A639C6-15D7-4392-945C-F12538898275}"/>
              </a:ext>
            </a:extLst>
          </p:cNvPr>
          <p:cNvSpPr/>
          <p:nvPr/>
        </p:nvSpPr>
        <p:spPr>
          <a:xfrm>
            <a:off x="661475" y="1641976"/>
            <a:ext cx="3560673" cy="76032"/>
          </a:xfrm>
          <a:custGeom>
            <a:avLst/>
            <a:gdLst>
              <a:gd name="connsiteX0" fmla="*/ 46496 w 3560673"/>
              <a:gd name="connsiteY0" fmla="*/ 0 h 76032"/>
              <a:gd name="connsiteX1" fmla="*/ 3514178 w 3560673"/>
              <a:gd name="connsiteY1" fmla="*/ 0 h 76032"/>
              <a:gd name="connsiteX2" fmla="*/ 3560673 w 3560673"/>
              <a:gd name="connsiteY2" fmla="*/ 46415 h 76032"/>
              <a:gd name="connsiteX3" fmla="*/ 3560673 w 3560673"/>
              <a:gd name="connsiteY3" fmla="*/ 76032 h 76032"/>
              <a:gd name="connsiteX4" fmla="*/ 3560673 w 3560673"/>
              <a:gd name="connsiteY4" fmla="*/ 76032 h 76032"/>
              <a:gd name="connsiteX5" fmla="*/ 0 w 3560673"/>
              <a:gd name="connsiteY5" fmla="*/ 76032 h 76032"/>
              <a:gd name="connsiteX6" fmla="*/ 0 w 3560673"/>
              <a:gd name="connsiteY6" fmla="*/ 76032 h 76032"/>
              <a:gd name="connsiteX7" fmla="*/ 0 w 3560673"/>
              <a:gd name="connsiteY7" fmla="*/ 46415 h 76032"/>
              <a:gd name="connsiteX8" fmla="*/ 46496 w 3560673"/>
              <a:gd name="connsiteY8" fmla="*/ 0 h 7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0673" h="76032">
                <a:moveTo>
                  <a:pt x="46496" y="0"/>
                </a:moveTo>
                <a:lnTo>
                  <a:pt x="3514178" y="0"/>
                </a:lnTo>
                <a:cubicBezTo>
                  <a:pt x="3539856" y="0"/>
                  <a:pt x="3560673" y="20781"/>
                  <a:pt x="3560673" y="46415"/>
                </a:cubicBezTo>
                <a:lnTo>
                  <a:pt x="3560673" y="76032"/>
                </a:lnTo>
                <a:lnTo>
                  <a:pt x="3560673" y="76032"/>
                </a:lnTo>
                <a:lnTo>
                  <a:pt x="0" y="76032"/>
                </a:lnTo>
                <a:lnTo>
                  <a:pt x="0" y="76032"/>
                </a:lnTo>
                <a:lnTo>
                  <a:pt x="0" y="46415"/>
                </a:lnTo>
                <a:cubicBezTo>
                  <a:pt x="0" y="20781"/>
                  <a:pt x="20817" y="0"/>
                  <a:pt x="46496" y="0"/>
                </a:cubicBezTo>
              </a:path>
            </a:pathLst>
          </a:custGeom>
          <a:solidFill>
            <a:srgbClr val="1B1B27"/>
          </a:solidFill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8B165BAA-CD49-4F63-878C-C0CFF45A8D4D}"/>
              </a:ext>
            </a:extLst>
          </p:cNvPr>
          <p:cNvSpPr/>
          <p:nvPr/>
        </p:nvSpPr>
        <p:spPr>
          <a:xfrm>
            <a:off x="2241880" y="1464568"/>
            <a:ext cx="399861" cy="399168"/>
          </a:xfrm>
          <a:custGeom>
            <a:avLst/>
            <a:gdLst>
              <a:gd name="connsiteX0" fmla="*/ 199931 w 399861"/>
              <a:gd name="connsiteY0" fmla="*/ 0 h 399168"/>
              <a:gd name="connsiteX1" fmla="*/ 199931 w 399861"/>
              <a:gd name="connsiteY1" fmla="*/ 0 h 399168"/>
              <a:gd name="connsiteX2" fmla="*/ 399862 w 399861"/>
              <a:gd name="connsiteY2" fmla="*/ 199584 h 399168"/>
              <a:gd name="connsiteX3" fmla="*/ 399862 w 399861"/>
              <a:gd name="connsiteY3" fmla="*/ 199584 h 399168"/>
              <a:gd name="connsiteX4" fmla="*/ 199931 w 399861"/>
              <a:gd name="connsiteY4" fmla="*/ 399168 h 399168"/>
              <a:gd name="connsiteX5" fmla="*/ 199931 w 399861"/>
              <a:gd name="connsiteY5" fmla="*/ 399168 h 399168"/>
              <a:gd name="connsiteX6" fmla="*/ 0 w 399861"/>
              <a:gd name="connsiteY6" fmla="*/ 199584 h 399168"/>
              <a:gd name="connsiteX7" fmla="*/ 0 w 399861"/>
              <a:gd name="connsiteY7" fmla="*/ 199584 h 399168"/>
              <a:gd name="connsiteX8" fmla="*/ 199931 w 399861"/>
              <a:gd name="connsiteY8" fmla="*/ 0 h 39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861" h="399168">
                <a:moveTo>
                  <a:pt x="199931" y="0"/>
                </a:moveTo>
                <a:lnTo>
                  <a:pt x="199931" y="0"/>
                </a:lnTo>
                <a:cubicBezTo>
                  <a:pt x="310350" y="0"/>
                  <a:pt x="399862" y="89357"/>
                  <a:pt x="399862" y="199584"/>
                </a:cubicBezTo>
                <a:lnTo>
                  <a:pt x="399862" y="199584"/>
                </a:lnTo>
                <a:cubicBezTo>
                  <a:pt x="399862" y="309812"/>
                  <a:pt x="310350" y="399168"/>
                  <a:pt x="199931" y="399168"/>
                </a:cubicBezTo>
                <a:lnTo>
                  <a:pt x="199931" y="399168"/>
                </a:lnTo>
                <a:cubicBezTo>
                  <a:pt x="89512" y="399168"/>
                  <a:pt x="0" y="309812"/>
                  <a:pt x="0" y="199584"/>
                </a:cubicBezTo>
                <a:lnTo>
                  <a:pt x="0" y="199584"/>
                </a:lnTo>
                <a:cubicBezTo>
                  <a:pt x="0" y="89357"/>
                  <a:pt x="89512" y="0"/>
                  <a:pt x="199931" y="0"/>
                </a:cubicBezTo>
              </a:path>
            </a:pathLst>
          </a:custGeom>
          <a:solidFill>
            <a:srgbClr val="1B1B27"/>
          </a:solidFill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2362042" y="1564184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13375" y="1996083"/>
            <a:ext cx="32568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 liga para cancelar</a:t>
            </a:r>
            <a:endParaRPr lang="en-US" sz="1600" dirty="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8618F05A-5CC0-4FE3-8731-2C91BB090853}"/>
              </a:ext>
            </a:extLst>
          </p:cNvPr>
          <p:cNvSpPr/>
          <p:nvPr/>
        </p:nvSpPr>
        <p:spPr>
          <a:xfrm>
            <a:off x="4315511" y="1660984"/>
            <a:ext cx="3560673" cy="1774081"/>
          </a:xfrm>
          <a:custGeom>
            <a:avLst/>
            <a:gdLst>
              <a:gd name="connsiteX0" fmla="*/ 76164 w 3560673"/>
              <a:gd name="connsiteY0" fmla="*/ 0 h 1774081"/>
              <a:gd name="connsiteX1" fmla="*/ 3484509 w 3560673"/>
              <a:gd name="connsiteY1" fmla="*/ 0 h 1774081"/>
              <a:gd name="connsiteX2" fmla="*/ 3560673 w 3560673"/>
              <a:gd name="connsiteY2" fmla="*/ 76032 h 1774081"/>
              <a:gd name="connsiteX3" fmla="*/ 3560673 w 3560673"/>
              <a:gd name="connsiteY3" fmla="*/ 1727667 h 1774081"/>
              <a:gd name="connsiteX4" fmla="*/ 3514178 w 3560673"/>
              <a:gd name="connsiteY4" fmla="*/ 1774082 h 1774081"/>
              <a:gd name="connsiteX5" fmla="*/ 46496 w 3560673"/>
              <a:gd name="connsiteY5" fmla="*/ 1774082 h 1774081"/>
              <a:gd name="connsiteX6" fmla="*/ 0 w 3560673"/>
              <a:gd name="connsiteY6" fmla="*/ 1727667 h 1774081"/>
              <a:gd name="connsiteX7" fmla="*/ 0 w 3560673"/>
              <a:gd name="connsiteY7" fmla="*/ 76032 h 1774081"/>
              <a:gd name="connsiteX8" fmla="*/ 76164 w 3560673"/>
              <a:gd name="connsiteY8" fmla="*/ 0 h 177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0673" h="1774081">
                <a:moveTo>
                  <a:pt x="76164" y="0"/>
                </a:moveTo>
                <a:lnTo>
                  <a:pt x="3484509" y="0"/>
                </a:lnTo>
                <a:cubicBezTo>
                  <a:pt x="3526573" y="0"/>
                  <a:pt x="3560673" y="34041"/>
                  <a:pt x="3560673" y="76032"/>
                </a:cubicBezTo>
                <a:lnTo>
                  <a:pt x="3560673" y="1727667"/>
                </a:lnTo>
                <a:cubicBezTo>
                  <a:pt x="3560673" y="1753301"/>
                  <a:pt x="3539856" y="1774082"/>
                  <a:pt x="3514178" y="1774082"/>
                </a:cubicBezTo>
                <a:lnTo>
                  <a:pt x="46496" y="1774082"/>
                </a:lnTo>
                <a:cubicBezTo>
                  <a:pt x="20817" y="1774082"/>
                  <a:pt x="0" y="1753301"/>
                  <a:pt x="0" y="1727667"/>
                </a:cubicBezTo>
                <a:lnTo>
                  <a:pt x="0" y="76032"/>
                </a:lnTo>
                <a:cubicBezTo>
                  <a:pt x="0" y="34041"/>
                  <a:pt x="34100" y="0"/>
                  <a:pt x="76164" y="0"/>
                </a:cubicBezTo>
              </a:path>
            </a:pathLst>
          </a:custGeom>
          <a:noFill/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F684DD02-C826-4A09-8A82-7EF7397C1244}"/>
              </a:ext>
            </a:extLst>
          </p:cNvPr>
          <p:cNvSpPr/>
          <p:nvPr/>
        </p:nvSpPr>
        <p:spPr>
          <a:xfrm>
            <a:off x="4315511" y="1683255"/>
            <a:ext cx="3560673" cy="2108816"/>
          </a:xfrm>
          <a:custGeom>
            <a:avLst/>
            <a:gdLst>
              <a:gd name="connsiteX0" fmla="*/ 3538363 w 3560673"/>
              <a:gd name="connsiteY0" fmla="*/ 0 h 1751810"/>
              <a:gd name="connsiteX1" fmla="*/ 3560673 w 3560673"/>
              <a:gd name="connsiteY1" fmla="*/ 53761 h 1751810"/>
              <a:gd name="connsiteX2" fmla="*/ 3560673 w 3560673"/>
              <a:gd name="connsiteY2" fmla="*/ 1705396 h 1751810"/>
              <a:gd name="connsiteX3" fmla="*/ 3514178 w 3560673"/>
              <a:gd name="connsiteY3" fmla="*/ 1751811 h 1751810"/>
              <a:gd name="connsiteX4" fmla="*/ 46496 w 3560673"/>
              <a:gd name="connsiteY4" fmla="*/ 1751811 h 1751810"/>
              <a:gd name="connsiteX5" fmla="*/ 0 w 3560673"/>
              <a:gd name="connsiteY5" fmla="*/ 1705396 h 1751810"/>
              <a:gd name="connsiteX6" fmla="*/ 0 w 3560673"/>
              <a:gd name="connsiteY6" fmla="*/ 53761 h 1751810"/>
              <a:gd name="connsiteX7" fmla="*/ 22310 w 3560673"/>
              <a:gd name="connsiteY7" fmla="*/ 0 h 1751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0673" h="1751810">
                <a:moveTo>
                  <a:pt x="3538363" y="0"/>
                </a:moveTo>
                <a:cubicBezTo>
                  <a:pt x="3552647" y="14258"/>
                  <a:pt x="3560672" y="33596"/>
                  <a:pt x="3560673" y="53761"/>
                </a:cubicBezTo>
                <a:lnTo>
                  <a:pt x="3560673" y="1705396"/>
                </a:lnTo>
                <a:cubicBezTo>
                  <a:pt x="3560673" y="1731030"/>
                  <a:pt x="3539856" y="1751811"/>
                  <a:pt x="3514178" y="1751811"/>
                </a:cubicBezTo>
                <a:lnTo>
                  <a:pt x="46496" y="1751811"/>
                </a:lnTo>
                <a:cubicBezTo>
                  <a:pt x="20817" y="1751811"/>
                  <a:pt x="0" y="1731030"/>
                  <a:pt x="0" y="1705396"/>
                </a:cubicBezTo>
                <a:lnTo>
                  <a:pt x="0" y="53761"/>
                </a:lnTo>
                <a:cubicBezTo>
                  <a:pt x="1" y="33596"/>
                  <a:pt x="8026" y="14258"/>
                  <a:pt x="22310" y="0"/>
                </a:cubicBezTo>
              </a:path>
            </a:pathLst>
          </a:custGeom>
          <a:noFill/>
          <a:ln w="37998" cap="flat">
            <a:solidFill>
              <a:srgbClr val="C7C7D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B8E0EA59-DD01-4DC2-941D-21DAB4A725C0}"/>
              </a:ext>
            </a:extLst>
          </p:cNvPr>
          <p:cNvSpPr/>
          <p:nvPr/>
        </p:nvSpPr>
        <p:spPr>
          <a:xfrm>
            <a:off x="4315511" y="1641976"/>
            <a:ext cx="3560673" cy="76032"/>
          </a:xfrm>
          <a:custGeom>
            <a:avLst/>
            <a:gdLst>
              <a:gd name="connsiteX0" fmla="*/ 46496 w 3560673"/>
              <a:gd name="connsiteY0" fmla="*/ 0 h 76032"/>
              <a:gd name="connsiteX1" fmla="*/ 3514178 w 3560673"/>
              <a:gd name="connsiteY1" fmla="*/ 0 h 76032"/>
              <a:gd name="connsiteX2" fmla="*/ 3560673 w 3560673"/>
              <a:gd name="connsiteY2" fmla="*/ 46415 h 76032"/>
              <a:gd name="connsiteX3" fmla="*/ 3560673 w 3560673"/>
              <a:gd name="connsiteY3" fmla="*/ 76032 h 76032"/>
              <a:gd name="connsiteX4" fmla="*/ 3560673 w 3560673"/>
              <a:gd name="connsiteY4" fmla="*/ 76032 h 76032"/>
              <a:gd name="connsiteX5" fmla="*/ 0 w 3560673"/>
              <a:gd name="connsiteY5" fmla="*/ 76032 h 76032"/>
              <a:gd name="connsiteX6" fmla="*/ 0 w 3560673"/>
              <a:gd name="connsiteY6" fmla="*/ 76032 h 76032"/>
              <a:gd name="connsiteX7" fmla="*/ 0 w 3560673"/>
              <a:gd name="connsiteY7" fmla="*/ 46415 h 76032"/>
              <a:gd name="connsiteX8" fmla="*/ 46496 w 3560673"/>
              <a:gd name="connsiteY8" fmla="*/ 0 h 7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0673" h="76032">
                <a:moveTo>
                  <a:pt x="46496" y="0"/>
                </a:moveTo>
                <a:lnTo>
                  <a:pt x="3514178" y="0"/>
                </a:lnTo>
                <a:cubicBezTo>
                  <a:pt x="3539856" y="0"/>
                  <a:pt x="3560673" y="20781"/>
                  <a:pt x="3560673" y="46415"/>
                </a:cubicBezTo>
                <a:lnTo>
                  <a:pt x="3560673" y="76032"/>
                </a:lnTo>
                <a:lnTo>
                  <a:pt x="3560673" y="76032"/>
                </a:lnTo>
                <a:lnTo>
                  <a:pt x="0" y="76032"/>
                </a:lnTo>
                <a:lnTo>
                  <a:pt x="0" y="76032"/>
                </a:lnTo>
                <a:lnTo>
                  <a:pt x="0" y="46415"/>
                </a:lnTo>
                <a:cubicBezTo>
                  <a:pt x="0" y="20781"/>
                  <a:pt x="20817" y="0"/>
                  <a:pt x="46496" y="0"/>
                </a:cubicBezTo>
              </a:path>
            </a:pathLst>
          </a:custGeom>
          <a:solidFill>
            <a:srgbClr val="1B1B27"/>
          </a:solidFill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08C82754-35CF-4298-8152-FF7C382CC0FA}"/>
              </a:ext>
            </a:extLst>
          </p:cNvPr>
          <p:cNvSpPr/>
          <p:nvPr/>
        </p:nvSpPr>
        <p:spPr>
          <a:xfrm>
            <a:off x="5895916" y="1464568"/>
            <a:ext cx="399861" cy="399168"/>
          </a:xfrm>
          <a:custGeom>
            <a:avLst/>
            <a:gdLst>
              <a:gd name="connsiteX0" fmla="*/ 199931 w 399861"/>
              <a:gd name="connsiteY0" fmla="*/ 0 h 399168"/>
              <a:gd name="connsiteX1" fmla="*/ 199931 w 399861"/>
              <a:gd name="connsiteY1" fmla="*/ 0 h 399168"/>
              <a:gd name="connsiteX2" fmla="*/ 399862 w 399861"/>
              <a:gd name="connsiteY2" fmla="*/ 199584 h 399168"/>
              <a:gd name="connsiteX3" fmla="*/ 399862 w 399861"/>
              <a:gd name="connsiteY3" fmla="*/ 199584 h 399168"/>
              <a:gd name="connsiteX4" fmla="*/ 199931 w 399861"/>
              <a:gd name="connsiteY4" fmla="*/ 399168 h 399168"/>
              <a:gd name="connsiteX5" fmla="*/ 199931 w 399861"/>
              <a:gd name="connsiteY5" fmla="*/ 399168 h 399168"/>
              <a:gd name="connsiteX6" fmla="*/ 0 w 399861"/>
              <a:gd name="connsiteY6" fmla="*/ 199584 h 399168"/>
              <a:gd name="connsiteX7" fmla="*/ 0 w 399861"/>
              <a:gd name="connsiteY7" fmla="*/ 199584 h 399168"/>
              <a:gd name="connsiteX8" fmla="*/ 199931 w 399861"/>
              <a:gd name="connsiteY8" fmla="*/ 0 h 39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861" h="399168">
                <a:moveTo>
                  <a:pt x="199931" y="0"/>
                </a:moveTo>
                <a:lnTo>
                  <a:pt x="199931" y="0"/>
                </a:lnTo>
                <a:cubicBezTo>
                  <a:pt x="310350" y="0"/>
                  <a:pt x="399862" y="89357"/>
                  <a:pt x="399862" y="199584"/>
                </a:cubicBezTo>
                <a:lnTo>
                  <a:pt x="399862" y="199584"/>
                </a:lnTo>
                <a:cubicBezTo>
                  <a:pt x="399862" y="309812"/>
                  <a:pt x="310350" y="399168"/>
                  <a:pt x="199931" y="399168"/>
                </a:cubicBezTo>
                <a:lnTo>
                  <a:pt x="199931" y="399168"/>
                </a:lnTo>
                <a:cubicBezTo>
                  <a:pt x="89512" y="399168"/>
                  <a:pt x="0" y="309812"/>
                  <a:pt x="0" y="199584"/>
                </a:cubicBezTo>
                <a:lnTo>
                  <a:pt x="0" y="199584"/>
                </a:lnTo>
                <a:cubicBezTo>
                  <a:pt x="0" y="89357"/>
                  <a:pt x="89512" y="0"/>
                  <a:pt x="199931" y="0"/>
                </a:cubicBezTo>
              </a:path>
            </a:pathLst>
          </a:custGeom>
          <a:solidFill>
            <a:srgbClr val="1B1B27"/>
          </a:solidFill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6016078" y="1564184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467411" y="1996083"/>
            <a:ext cx="3256873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Robô reconhece a intenção</a:t>
            </a:r>
            <a:endParaRPr lang="en-US" sz="1600" dirty="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477D48CC-0608-47BD-83B3-4A2A6C3406F3}"/>
              </a:ext>
            </a:extLst>
          </p:cNvPr>
          <p:cNvSpPr/>
          <p:nvPr/>
        </p:nvSpPr>
        <p:spPr>
          <a:xfrm>
            <a:off x="7969547" y="1660984"/>
            <a:ext cx="3560673" cy="1774081"/>
          </a:xfrm>
          <a:custGeom>
            <a:avLst/>
            <a:gdLst>
              <a:gd name="connsiteX0" fmla="*/ 76164 w 3560673"/>
              <a:gd name="connsiteY0" fmla="*/ 0 h 1774081"/>
              <a:gd name="connsiteX1" fmla="*/ 3484509 w 3560673"/>
              <a:gd name="connsiteY1" fmla="*/ 0 h 1774081"/>
              <a:gd name="connsiteX2" fmla="*/ 3560673 w 3560673"/>
              <a:gd name="connsiteY2" fmla="*/ 76032 h 1774081"/>
              <a:gd name="connsiteX3" fmla="*/ 3560673 w 3560673"/>
              <a:gd name="connsiteY3" fmla="*/ 1727667 h 1774081"/>
              <a:gd name="connsiteX4" fmla="*/ 3514178 w 3560673"/>
              <a:gd name="connsiteY4" fmla="*/ 1774082 h 1774081"/>
              <a:gd name="connsiteX5" fmla="*/ 46496 w 3560673"/>
              <a:gd name="connsiteY5" fmla="*/ 1774082 h 1774081"/>
              <a:gd name="connsiteX6" fmla="*/ 0 w 3560673"/>
              <a:gd name="connsiteY6" fmla="*/ 1727667 h 1774081"/>
              <a:gd name="connsiteX7" fmla="*/ 0 w 3560673"/>
              <a:gd name="connsiteY7" fmla="*/ 76032 h 1774081"/>
              <a:gd name="connsiteX8" fmla="*/ 76164 w 3560673"/>
              <a:gd name="connsiteY8" fmla="*/ 0 h 1774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0673" h="1774081">
                <a:moveTo>
                  <a:pt x="76164" y="0"/>
                </a:moveTo>
                <a:lnTo>
                  <a:pt x="3484509" y="0"/>
                </a:lnTo>
                <a:cubicBezTo>
                  <a:pt x="3526573" y="0"/>
                  <a:pt x="3560673" y="34041"/>
                  <a:pt x="3560673" y="76032"/>
                </a:cubicBezTo>
                <a:lnTo>
                  <a:pt x="3560673" y="1727667"/>
                </a:lnTo>
                <a:cubicBezTo>
                  <a:pt x="3560673" y="1753301"/>
                  <a:pt x="3539856" y="1774082"/>
                  <a:pt x="3514178" y="1774082"/>
                </a:cubicBezTo>
                <a:lnTo>
                  <a:pt x="46496" y="1774082"/>
                </a:lnTo>
                <a:cubicBezTo>
                  <a:pt x="20817" y="1774082"/>
                  <a:pt x="0" y="1753301"/>
                  <a:pt x="0" y="1727667"/>
                </a:cubicBezTo>
                <a:lnTo>
                  <a:pt x="0" y="76032"/>
                </a:lnTo>
                <a:cubicBezTo>
                  <a:pt x="0" y="34041"/>
                  <a:pt x="34100" y="0"/>
                  <a:pt x="76164" y="0"/>
                </a:cubicBezTo>
              </a:path>
            </a:pathLst>
          </a:custGeom>
          <a:noFill/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B8A0C976-B121-4D9F-A882-54D19AF02978}"/>
              </a:ext>
            </a:extLst>
          </p:cNvPr>
          <p:cNvSpPr/>
          <p:nvPr/>
        </p:nvSpPr>
        <p:spPr>
          <a:xfrm>
            <a:off x="7969547" y="1683255"/>
            <a:ext cx="3560673" cy="2108816"/>
          </a:xfrm>
          <a:custGeom>
            <a:avLst/>
            <a:gdLst>
              <a:gd name="connsiteX0" fmla="*/ 3538363 w 3560673"/>
              <a:gd name="connsiteY0" fmla="*/ 0 h 1751810"/>
              <a:gd name="connsiteX1" fmla="*/ 3560673 w 3560673"/>
              <a:gd name="connsiteY1" fmla="*/ 53761 h 1751810"/>
              <a:gd name="connsiteX2" fmla="*/ 3560673 w 3560673"/>
              <a:gd name="connsiteY2" fmla="*/ 1705396 h 1751810"/>
              <a:gd name="connsiteX3" fmla="*/ 3514178 w 3560673"/>
              <a:gd name="connsiteY3" fmla="*/ 1751811 h 1751810"/>
              <a:gd name="connsiteX4" fmla="*/ 46496 w 3560673"/>
              <a:gd name="connsiteY4" fmla="*/ 1751811 h 1751810"/>
              <a:gd name="connsiteX5" fmla="*/ 0 w 3560673"/>
              <a:gd name="connsiteY5" fmla="*/ 1705396 h 1751810"/>
              <a:gd name="connsiteX6" fmla="*/ 0 w 3560673"/>
              <a:gd name="connsiteY6" fmla="*/ 53761 h 1751810"/>
              <a:gd name="connsiteX7" fmla="*/ 22310 w 3560673"/>
              <a:gd name="connsiteY7" fmla="*/ 0 h 1751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0673" h="1751810">
                <a:moveTo>
                  <a:pt x="3538363" y="0"/>
                </a:moveTo>
                <a:cubicBezTo>
                  <a:pt x="3552647" y="14258"/>
                  <a:pt x="3560672" y="33596"/>
                  <a:pt x="3560673" y="53761"/>
                </a:cubicBezTo>
                <a:lnTo>
                  <a:pt x="3560673" y="1705396"/>
                </a:lnTo>
                <a:cubicBezTo>
                  <a:pt x="3560673" y="1731030"/>
                  <a:pt x="3539856" y="1751811"/>
                  <a:pt x="3514178" y="1751811"/>
                </a:cubicBezTo>
                <a:lnTo>
                  <a:pt x="46496" y="1751811"/>
                </a:lnTo>
                <a:cubicBezTo>
                  <a:pt x="20817" y="1751811"/>
                  <a:pt x="0" y="1731030"/>
                  <a:pt x="0" y="1705396"/>
                </a:cubicBezTo>
                <a:lnTo>
                  <a:pt x="0" y="53761"/>
                </a:lnTo>
                <a:cubicBezTo>
                  <a:pt x="1" y="33596"/>
                  <a:pt x="8026" y="14258"/>
                  <a:pt x="22310" y="0"/>
                </a:cubicBezTo>
              </a:path>
            </a:pathLst>
          </a:custGeom>
          <a:noFill/>
          <a:ln w="37998" cap="flat">
            <a:solidFill>
              <a:srgbClr val="C7C7D0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EE3F7530-F4C3-4AC0-A06E-7D740F3C1B68}"/>
              </a:ext>
            </a:extLst>
          </p:cNvPr>
          <p:cNvSpPr/>
          <p:nvPr/>
        </p:nvSpPr>
        <p:spPr>
          <a:xfrm>
            <a:off x="7969547" y="1641976"/>
            <a:ext cx="3560673" cy="76032"/>
          </a:xfrm>
          <a:custGeom>
            <a:avLst/>
            <a:gdLst>
              <a:gd name="connsiteX0" fmla="*/ 46496 w 3560673"/>
              <a:gd name="connsiteY0" fmla="*/ 0 h 76032"/>
              <a:gd name="connsiteX1" fmla="*/ 3514178 w 3560673"/>
              <a:gd name="connsiteY1" fmla="*/ 0 h 76032"/>
              <a:gd name="connsiteX2" fmla="*/ 3560673 w 3560673"/>
              <a:gd name="connsiteY2" fmla="*/ 46415 h 76032"/>
              <a:gd name="connsiteX3" fmla="*/ 3560673 w 3560673"/>
              <a:gd name="connsiteY3" fmla="*/ 76032 h 76032"/>
              <a:gd name="connsiteX4" fmla="*/ 3560673 w 3560673"/>
              <a:gd name="connsiteY4" fmla="*/ 76032 h 76032"/>
              <a:gd name="connsiteX5" fmla="*/ 0 w 3560673"/>
              <a:gd name="connsiteY5" fmla="*/ 76032 h 76032"/>
              <a:gd name="connsiteX6" fmla="*/ 0 w 3560673"/>
              <a:gd name="connsiteY6" fmla="*/ 76032 h 76032"/>
              <a:gd name="connsiteX7" fmla="*/ 0 w 3560673"/>
              <a:gd name="connsiteY7" fmla="*/ 46415 h 76032"/>
              <a:gd name="connsiteX8" fmla="*/ 46496 w 3560673"/>
              <a:gd name="connsiteY8" fmla="*/ 0 h 76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0673" h="76032">
                <a:moveTo>
                  <a:pt x="46496" y="0"/>
                </a:moveTo>
                <a:lnTo>
                  <a:pt x="3514178" y="0"/>
                </a:lnTo>
                <a:cubicBezTo>
                  <a:pt x="3539856" y="0"/>
                  <a:pt x="3560673" y="20781"/>
                  <a:pt x="3560673" y="46415"/>
                </a:cubicBezTo>
                <a:lnTo>
                  <a:pt x="3560673" y="76032"/>
                </a:lnTo>
                <a:lnTo>
                  <a:pt x="3560673" y="76032"/>
                </a:lnTo>
                <a:lnTo>
                  <a:pt x="0" y="76032"/>
                </a:lnTo>
                <a:lnTo>
                  <a:pt x="0" y="76032"/>
                </a:lnTo>
                <a:lnTo>
                  <a:pt x="0" y="46415"/>
                </a:lnTo>
                <a:cubicBezTo>
                  <a:pt x="0" y="20781"/>
                  <a:pt x="20817" y="0"/>
                  <a:pt x="46496" y="0"/>
                </a:cubicBezTo>
              </a:path>
            </a:pathLst>
          </a:custGeom>
          <a:solidFill>
            <a:srgbClr val="1B1B27"/>
          </a:solidFill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08AB1AFD-0BC2-429A-B925-8B8A72C8C757}"/>
              </a:ext>
            </a:extLst>
          </p:cNvPr>
          <p:cNvSpPr/>
          <p:nvPr/>
        </p:nvSpPr>
        <p:spPr>
          <a:xfrm>
            <a:off x="9549952" y="1464568"/>
            <a:ext cx="399861" cy="399168"/>
          </a:xfrm>
          <a:custGeom>
            <a:avLst/>
            <a:gdLst>
              <a:gd name="connsiteX0" fmla="*/ 199931 w 399861"/>
              <a:gd name="connsiteY0" fmla="*/ 0 h 399168"/>
              <a:gd name="connsiteX1" fmla="*/ 199931 w 399861"/>
              <a:gd name="connsiteY1" fmla="*/ 0 h 399168"/>
              <a:gd name="connsiteX2" fmla="*/ 399862 w 399861"/>
              <a:gd name="connsiteY2" fmla="*/ 199584 h 399168"/>
              <a:gd name="connsiteX3" fmla="*/ 399862 w 399861"/>
              <a:gd name="connsiteY3" fmla="*/ 199584 h 399168"/>
              <a:gd name="connsiteX4" fmla="*/ 199931 w 399861"/>
              <a:gd name="connsiteY4" fmla="*/ 399168 h 399168"/>
              <a:gd name="connsiteX5" fmla="*/ 199931 w 399861"/>
              <a:gd name="connsiteY5" fmla="*/ 399168 h 399168"/>
              <a:gd name="connsiteX6" fmla="*/ 0 w 399861"/>
              <a:gd name="connsiteY6" fmla="*/ 199584 h 399168"/>
              <a:gd name="connsiteX7" fmla="*/ 0 w 399861"/>
              <a:gd name="connsiteY7" fmla="*/ 199584 h 399168"/>
              <a:gd name="connsiteX8" fmla="*/ 199931 w 399861"/>
              <a:gd name="connsiteY8" fmla="*/ 0 h 399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861" h="399168">
                <a:moveTo>
                  <a:pt x="199931" y="0"/>
                </a:moveTo>
                <a:lnTo>
                  <a:pt x="199931" y="0"/>
                </a:lnTo>
                <a:cubicBezTo>
                  <a:pt x="310350" y="0"/>
                  <a:pt x="399862" y="89357"/>
                  <a:pt x="399862" y="199584"/>
                </a:cubicBezTo>
                <a:lnTo>
                  <a:pt x="399862" y="199584"/>
                </a:lnTo>
                <a:cubicBezTo>
                  <a:pt x="399862" y="309812"/>
                  <a:pt x="310350" y="399168"/>
                  <a:pt x="199931" y="399168"/>
                </a:cubicBezTo>
                <a:lnTo>
                  <a:pt x="199931" y="399168"/>
                </a:lnTo>
                <a:cubicBezTo>
                  <a:pt x="89512" y="399168"/>
                  <a:pt x="0" y="309812"/>
                  <a:pt x="0" y="199584"/>
                </a:cubicBezTo>
                <a:lnTo>
                  <a:pt x="0" y="199584"/>
                </a:lnTo>
                <a:cubicBezTo>
                  <a:pt x="0" y="89357"/>
                  <a:pt x="89512" y="0"/>
                  <a:pt x="199931" y="0"/>
                </a:cubicBezTo>
              </a:path>
            </a:pathLst>
          </a:custGeom>
          <a:solidFill>
            <a:srgbClr val="1B1B27"/>
          </a:solidFill>
          <a:ln w="6333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Text 6"/>
          <p:cNvSpPr/>
          <p:nvPr/>
        </p:nvSpPr>
        <p:spPr>
          <a:xfrm>
            <a:off x="9670114" y="1564184"/>
            <a:ext cx="159441" cy="1993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121447" y="1996083"/>
            <a:ext cx="3256873" cy="415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Robô executa a mesma sequência para TODOS: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21447" y="2467272"/>
            <a:ext cx="3256873" cy="1245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"Mas você vai perder nossos melhores filmes!"</a:t>
            </a:r>
            <a:endParaRPr lang="en-US" sz="1400" dirty="0"/>
          </a:p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"Temos uma promoção especial só para você"</a:t>
            </a:r>
            <a:endParaRPr lang="en-US" sz="1400" dirty="0"/>
          </a:p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"Deixa eu falar com meu supervisor"</a:t>
            </a:r>
            <a:endParaRPr lang="en-US" sz="1400" dirty="0"/>
          </a:p>
          <a:p>
            <a:pPr marL="203200" indent="-203200" algn="l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Repete a oferta 3 vezes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61475" y="4108457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que isso acontece?</a:t>
            </a:r>
            <a:endParaRPr lang="en-US" sz="2050" dirty="0"/>
          </a:p>
        </p:txBody>
      </p:sp>
      <p:sp>
        <p:nvSpPr>
          <p:cNvPr id="15" name="Text 10"/>
          <p:cNvSpPr/>
          <p:nvPr/>
        </p:nvSpPr>
        <p:spPr>
          <a:xfrm>
            <a:off x="661475" y="4580738"/>
            <a:ext cx="10868745" cy="684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empresa programou um algoritmo (rotina) que se repete identicamente para cada cliente. O robô não pensa — ele apenas segue os passos que foi programado para seguir, sempre na mesma ordem, sempre com as mesmas palavras.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1475" y="5362158"/>
            <a:ext cx="10868745" cy="837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É exatamente como um loop! </a:t>
            </a:r>
            <a:r>
              <a:rPr lang="en-US" sz="24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🔁</a:t>
            </a: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O computador repete a mesma ação para cada usuário que tenta cancelar.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35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Variáveis: Caixas de Armazenamento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32211"/>
            <a:ext cx="2009923" cy="2009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37842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variável tem um nome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78710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etiquetas nas caixas: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idade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nome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saldo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assim você sabe o que está dentro!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132211"/>
            <a:ext cx="2009923" cy="2009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437842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 err="1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Você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controla o conteúdo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78710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Coloque, tire, troque... a caixa está sempre disponível para você usar.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132211"/>
            <a:ext cx="2009923" cy="20099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437842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Organize seu programa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787106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Variáveis guardam informações enquanto seu programa está em execução — simples assim!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Tipos de Dados: Diferentes Tipos de Caixas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1132"/>
            <a:ext cx="5315512" cy="53156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2965" y="1549510"/>
            <a:ext cx="6589059" cy="2780443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Autofit/>
          </a:bodyPr>
          <a:lstStyle/>
          <a:p>
            <a:pPr>
              <a:lnSpc>
                <a:spcPct val="101000"/>
              </a:lnSpc>
              <a:buSzPct val="100000"/>
            </a:pP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Assim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como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na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vida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real,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diferentes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informações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precisam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diferentes</a:t>
            </a:r>
            <a:r>
              <a:rPr lang="en-US" sz="1700" b="1" dirty="0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 </a:t>
            </a: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tipos</a:t>
            </a:r>
            <a:r>
              <a:rPr lang="en-US" sz="1700" b="1" dirty="0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 de </a:t>
            </a: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recipientes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:</a:t>
            </a:r>
            <a:endParaRPr lang="en-US" sz="1700" dirty="0"/>
          </a:p>
          <a:p>
            <a:pPr algn="l">
              <a:lnSpc>
                <a:spcPct val="101000"/>
              </a:lnSpc>
              <a:buSzPct val="100000"/>
            </a:pPr>
            <a:endParaRPr lang="en-US" sz="1700" dirty="0">
              <a:solidFill>
                <a:srgbClr val="000000"/>
              </a:solidFill>
              <a:ea typeface="Roboto" pitchFamily="34" charset="-122"/>
              <a:cs typeface="Roboto" pitchFamily="34" charset="-120"/>
            </a:endParaRPr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Números</a:t>
            </a:r>
            <a:r>
              <a:rPr lang="en-US" sz="1700" b="1" dirty="0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 inteiros: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5, 10, 100 — tipo caixa para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maças</a:t>
            </a:r>
            <a:endParaRPr lang="en-US" sz="17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Números</a:t>
            </a:r>
            <a:r>
              <a:rPr lang="en-US" sz="1700" b="1" dirty="0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 decimais: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3.14, 2.5 — tipo caixa para parafusos pequenos</a:t>
            </a:r>
            <a:endParaRPr lang="en-US" sz="17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Textos</a:t>
            </a:r>
            <a:r>
              <a:rPr lang="en-US" sz="1700" b="1" dirty="0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: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"João", "Olá mundo" — tipo caixa para papéis</a:t>
            </a:r>
            <a:endParaRPr lang="en-US" sz="17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1700" b="1" dirty="0" err="1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Verdadeiro</a:t>
            </a:r>
            <a:r>
              <a:rPr lang="en-US" sz="1700" b="1" dirty="0">
                <a:solidFill>
                  <a:srgbClr val="3C3939"/>
                </a:solidFill>
                <a:ea typeface="Roboto Bold" pitchFamily="34" charset="-122"/>
                <a:cs typeface="Roboto Bold" pitchFamily="34" charset="-120"/>
              </a:rPr>
              <a:t>/Falso: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sim ou não — tipo interruptor de luz</a:t>
            </a:r>
          </a:p>
          <a:p>
            <a:pPr algn="l">
              <a:lnSpc>
                <a:spcPct val="101000"/>
              </a:lnSpc>
              <a:buSzPct val="100000"/>
            </a:pPr>
            <a:endParaRPr lang="en-US" sz="1700" dirty="0">
              <a:solidFill>
                <a:srgbClr val="3C3939"/>
              </a:solidFill>
              <a:ea typeface="Roboto" pitchFamily="34" charset="-122"/>
            </a:endParaRPr>
          </a:p>
          <a:p>
            <a:pPr>
              <a:lnSpc>
                <a:spcPct val="101000"/>
              </a:lnSpc>
              <a:buSzPct val="100000"/>
            </a:pP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Usar o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tipo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certo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evita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confusão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— imagine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guardar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água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numa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caixa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 de </a:t>
            </a:r>
            <a:r>
              <a:rPr lang="en-US" sz="1700" dirty="0" err="1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papelão</a:t>
            </a:r>
            <a:r>
              <a:rPr lang="en-US" sz="1700" dirty="0">
                <a:solidFill>
                  <a:srgbClr val="3C3939"/>
                </a:solidFill>
                <a:ea typeface="Roboto" pitchFamily="34" charset="-122"/>
                <a:cs typeface="Roboto" pitchFamily="34" charset="-120"/>
              </a:rPr>
              <a:t>!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1520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Estruturas de Controle: Tomando Decisões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479973"/>
            <a:ext cx="6296860" cy="3362722"/>
          </a:xfrm>
          <a:prstGeom prst="roundRect">
            <a:avLst>
              <a:gd name="adj" fmla="val 236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486323"/>
            <a:ext cx="6284160" cy="1675011"/>
          </a:xfrm>
          <a:custGeom>
            <a:avLst/>
            <a:gdLst/>
            <a:ahLst/>
            <a:cxnLst/>
            <a:rect l="l" t="t" r="r" b="b"/>
            <a:pathLst>
              <a:path w="6284160" h="1675011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675011"/>
                </a:lnTo>
                <a:lnTo>
                  <a:pt x="0" y="1675011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267533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☔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If / Else — Decisões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6832" y="3084016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está chovendo, leve guarda-chuva.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Senão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aproveite o sol!" O computador escolhe o caminho certo automaticamente.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7825" y="4161334"/>
            <a:ext cx="6284160" cy="1675011"/>
          </a:xfrm>
          <a:custGeom>
            <a:avLst/>
            <a:gdLst/>
            <a:ahLst/>
            <a:cxnLst/>
            <a:rect l="l" t="t" r="r" b="b"/>
            <a:pathLst>
              <a:path w="6284160" h="1675011">
                <a:moveTo>
                  <a:pt x="0" y="0"/>
                </a:moveTo>
                <a:lnTo>
                  <a:pt x="6284160" y="0"/>
                </a:lnTo>
                <a:lnTo>
                  <a:pt x="6284160" y="1608853"/>
                </a:lnTo>
                <a:arcTo wR="66156" hR="66158" stAng="0" swAng="5400000"/>
                <a:lnTo>
                  <a:pt x="66156" y="1675011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41613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572" y="3937794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1639" y="4055864"/>
            <a:ext cx="236234" cy="236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6832" y="463381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🔁</a:t>
            </a: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Loops — Repetições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856832" y="504249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Repita 10 vezes: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faça flexão" — em vez de escrever a mesma coisa 10 vezes, o computador faz por você, sem reclamar!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65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Funções: Atalhos Inteligentes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80965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Pense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no botão "fazer café"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293938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um único toque, ele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automaticamente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2766417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Aquece a água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Coloca o pó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Coa o café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 na xícara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34439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Você não faz cada passo manualmente toda vez — é só apertar o botão! As funções em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programação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funcionam exatamente </a:t>
            </a:r>
            <a:r>
              <a:rPr lang="en-US" sz="14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5161855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448598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7449" y="5379145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Escreva uma vez, use quantas vezes quiser!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410" y="499170"/>
            <a:ext cx="4394586" cy="585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0565"/>
            <a:ext cx="6296860" cy="111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Boas Práticas: Dicas de Ouro </a:t>
            </a:r>
            <a:r>
              <a:rPr lang="en-US" sz="3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✨</a:t>
            </a:r>
            <a:endParaRPr lang="en-US" sz="3450" dirty="0"/>
          </a:p>
        </p:txBody>
      </p:sp>
      <p:sp>
        <p:nvSpPr>
          <p:cNvPr id="5" name="Shape 2"/>
          <p:cNvSpPr/>
          <p:nvPr/>
        </p:nvSpPr>
        <p:spPr>
          <a:xfrm>
            <a:off x="661475" y="1913533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27900" y="1946771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226214" y="1974354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Escreva código limpo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26214" y="2350889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nomes claros — não use "x", use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"idade"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Seu eu do futuro vai </a:t>
            </a:r>
            <a:r>
              <a:rPr lang="en-US" sz="135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agradecer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475" y="3232348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7900" y="3265587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226214" y="3293170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Teste sempre!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26214" y="3669705"/>
            <a:ext cx="573212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Procure erros antes de usar. Todo bom programa é testado várias vezes.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61475" y="4276527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7900" y="4309765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226214" y="4337348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Comece simples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26214" y="4713883"/>
            <a:ext cx="5732121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Vá complicando aos poucos — ninguém constrói uma casa pelo telhado!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61475" y="5320705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7900" y="5353943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1226214" y="5381526"/>
            <a:ext cx="5732121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Todo expert já foi iniciante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26214" y="5758061"/>
            <a:ext cx="5732121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Lembre-se: </a:t>
            </a: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todo programador experiente começou do zero</a:t>
            </a: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assim como você agora.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655</Words>
  <Application>Microsoft Office PowerPoint</Application>
  <PresentationFormat>Widescreen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Roboto</vt:lpstr>
      <vt:lpstr>Raleway</vt:lpstr>
      <vt:lpstr>Arial</vt:lpstr>
      <vt:lpstr>Calibri</vt:lpstr>
      <vt:lpstr>Roboto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Ramon</cp:lastModifiedBy>
  <cp:revision>7</cp:revision>
  <dcterms:created xsi:type="dcterms:W3CDTF">2026-09-01T17:55:52Z</dcterms:created>
  <dcterms:modified xsi:type="dcterms:W3CDTF">2026-09-01T20:37:18Z</dcterms:modified>
</cp:coreProperties>
</file>